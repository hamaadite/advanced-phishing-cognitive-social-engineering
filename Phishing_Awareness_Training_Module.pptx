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804"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011680"/>
            <a:ext cx="10362895" cy="1828800"/>
          </a:xfrm>
          <a:prstGeom prst="rect">
            <a:avLst/>
          </a:prstGeom>
          <a:noFill/>
        </p:spPr>
        <p:txBody>
          <a:bodyPr wrap="square">
            <a:spAutoFit/>
          </a:bodyPr>
          <a:lstStyle/>
          <a:p>
            <a:pPr algn="l">
              <a:defRPr sz="4000" b="1">
                <a:solidFill>
                  <a:srgbClr val="FFFFFF"/>
                </a:solidFill>
                <a:latin typeface="Arial"/>
              </a:defRPr>
            </a:pPr>
            <a:r>
              <a:t>Advanced Phishing &amp; Cognitive Social Engineering</a:t>
            </a:r>
          </a:p>
          <a:p>
            <a:pPr>
              <a:spcBef>
                <a:spcPts val="1400"/>
              </a:spcBef>
              <a:defRPr sz="1800">
                <a:solidFill>
                  <a:srgbClr val="00B4D8"/>
                </a:solidFill>
                <a:latin typeface="Arial"/>
              </a:defRPr>
            </a:pPr>
            <a:r>
              <a:t>Deconstructive Threat Modeling &amp; Deception Psychology for the AI Era</a:t>
            </a:r>
          </a:p>
        </p:txBody>
      </p:sp>
      <p:sp>
        <p:nvSpPr>
          <p:cNvPr id="5" name="TextBox 4"/>
          <p:cNvSpPr txBox="1"/>
          <p:nvPr/>
        </p:nvSpPr>
        <p:spPr>
          <a:xfrm>
            <a:off x="914400" y="4572000"/>
            <a:ext cx="7315200" cy="589905"/>
          </a:xfrm>
          <a:prstGeom prst="rect">
            <a:avLst/>
          </a:prstGeom>
          <a:noFill/>
        </p:spPr>
        <p:txBody>
          <a:bodyPr wrap="square">
            <a:spAutoFit/>
          </a:bodyPr>
          <a:lstStyle/>
          <a:p>
            <a:pPr>
              <a:defRPr sz="1600" b="1">
                <a:solidFill>
                  <a:srgbClr val="FFFFFF"/>
                </a:solidFill>
                <a:latin typeface="Arial"/>
              </a:defRPr>
            </a:pPr>
            <a:r>
              <a:rPr dirty="0"/>
              <a:t>Presenter: Muhammad Hamaad Farid</a:t>
            </a:r>
          </a:p>
          <a:p>
            <a:pPr>
              <a:spcBef>
                <a:spcPts val="400"/>
              </a:spcBef>
              <a:defRPr sz="1300">
                <a:solidFill>
                  <a:srgbClr val="E0E1DD"/>
                </a:solidFill>
                <a:latin typeface="Arial"/>
              </a:defRPr>
            </a:pPr>
            <a:r>
              <a:t>Cybersecurity Engineer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274320"/>
          </a:xfrm>
          <a:prstGeom prst="rect">
            <a:avLst/>
          </a:prstGeom>
          <a:noFill/>
        </p:spPr>
        <p:txBody>
          <a:bodyPr wrap="square">
            <a:spAutoFit/>
          </a:bodyPr>
          <a:lstStyle/>
          <a:p>
            <a:pPr>
              <a:defRPr sz="1000" b="1">
                <a:solidFill>
                  <a:srgbClr val="00B4D8"/>
                </a:solidFill>
                <a:latin typeface="Arial"/>
              </a:defRPr>
            </a:pPr>
            <a:r>
              <a:t>ADVANCED CYBERSECURITY &amp; AI</a:t>
            </a:r>
          </a:p>
        </p:txBody>
      </p:sp>
      <p:sp>
        <p:nvSpPr>
          <p:cNvPr id="4" name="Rectangle 3"/>
          <p:cNvSpPr/>
          <p:nvPr/>
        </p:nvSpPr>
        <p:spPr>
          <a:xfrm>
            <a:off x="548640" y="73152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40080"/>
            <a:ext cx="10515600" cy="731520"/>
          </a:xfrm>
          <a:prstGeom prst="rect">
            <a:avLst/>
          </a:prstGeom>
          <a:noFill/>
        </p:spPr>
        <p:txBody>
          <a:bodyPr wrap="square">
            <a:spAutoFit/>
          </a:bodyPr>
          <a:lstStyle/>
          <a:p>
            <a:pPr>
              <a:defRPr sz="2800" b="1">
                <a:solidFill>
                  <a:srgbClr val="FFFFFF"/>
                </a:solidFill>
                <a:latin typeface="Arial"/>
              </a:defRPr>
            </a:pPr>
            <a:r>
              <a:t>Theoretical Foundations: The Psychology of Deception</a:t>
            </a:r>
          </a:p>
        </p:txBody>
      </p:sp>
      <p:sp>
        <p:nvSpPr>
          <p:cNvPr id="6" name="Rounded Rectangle 5"/>
          <p:cNvSpPr/>
          <p:nvPr/>
        </p:nvSpPr>
        <p:spPr>
          <a:xfrm>
            <a:off x="731520" y="1828800"/>
            <a:ext cx="5120640" cy="4114800"/>
          </a:xfrm>
          <a:prstGeom prst="round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800" b="1">
                <a:solidFill>
                  <a:srgbClr val="00B4D8"/>
                </a:solidFill>
                <a:latin typeface="Arial"/>
              </a:defRPr>
            </a:pPr>
            <a:r>
              <a:t>Dual-Process Cognitive Theory</a:t>
            </a:r>
          </a:p>
          <a:p>
            <a:pPr>
              <a:spcBef>
                <a:spcPts val="1400"/>
              </a:spcBef>
              <a:defRPr sz="1300">
                <a:solidFill>
                  <a:srgbClr val="E0E1DD"/>
                </a:solidFill>
                <a:latin typeface="Arial"/>
              </a:defRPr>
            </a:pPr>
            <a:r>
              <a:t>• System 1 (Intuitive): Fast, automatic, emotional, and highly susceptible to cognitive biases.</a:t>
            </a:r>
            <a:br/>
            <a:br/>
            <a:r>
              <a:t>• System 2 (Analytical): Slow, deliberate, logical, and computationally expensive for the brain.</a:t>
            </a:r>
            <a:br/>
            <a:br/>
            <a:r>
              <a:t>• Tactical Exploit: Attackers intentionally create synthetic high-stress or high-urgency loops (e.g., fraudulent critical HR actions) to overwhelm working memory, forcing cognitive fallback from critical System 2 analysis directly into vulnerable System 1 heuristics.</a:t>
            </a:r>
          </a:p>
        </p:txBody>
      </p:sp>
      <p:sp>
        <p:nvSpPr>
          <p:cNvPr id="7" name="Rounded Rectangle 6"/>
          <p:cNvSpPr/>
          <p:nvPr/>
        </p:nvSpPr>
        <p:spPr>
          <a:xfrm>
            <a:off x="6309360" y="1828800"/>
            <a:ext cx="5120640" cy="4114800"/>
          </a:xfrm>
          <a:prstGeom prst="round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800" b="1">
                <a:solidFill>
                  <a:srgbClr val="00B4D8"/>
                </a:solidFill>
                <a:latin typeface="Arial"/>
              </a:defRPr>
            </a:pPr>
            <a:r>
              <a:t>The Heuristic-Systematic Model (HSM)</a:t>
            </a:r>
          </a:p>
          <a:p>
            <a:pPr>
              <a:spcBef>
                <a:spcPts val="1400"/>
              </a:spcBef>
              <a:defRPr sz="1300">
                <a:solidFill>
                  <a:srgbClr val="E0E1DD"/>
                </a:solidFill>
                <a:latin typeface="Arial"/>
              </a:defRPr>
            </a:pPr>
            <a:r>
              <a:t>• Core Principle: Individuals minimize cognitive processing expenditure, preferring simple decision rules over rigorous systematic validation.</a:t>
            </a:r>
            <a:br/>
            <a:br/>
            <a:r>
              <a:t>• Social Engineering Exploits:</a:t>
            </a:r>
            <a:br/>
            <a:r>
              <a:t>  - Authority: Forging communications from executive infrastructure.</a:t>
            </a:r>
            <a:br/>
            <a:r>
              <a:t>  - Scarcity/Urgency: Imposing strict, severe countdowns on technical or financial adjustments.</a:t>
            </a:r>
            <a:br/>
            <a:r>
              <a:t>  - Social Proof: Fabricating fake chains of previous approval signatures.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274320"/>
          </a:xfrm>
          <a:prstGeom prst="rect">
            <a:avLst/>
          </a:prstGeom>
          <a:noFill/>
        </p:spPr>
        <p:txBody>
          <a:bodyPr wrap="square">
            <a:spAutoFit/>
          </a:bodyPr>
          <a:lstStyle/>
          <a:p>
            <a:pPr>
              <a:defRPr sz="1000" b="1">
                <a:solidFill>
                  <a:srgbClr val="00B4D8"/>
                </a:solidFill>
                <a:latin typeface="Arial"/>
              </a:defRPr>
            </a:pPr>
            <a:r>
              <a:t>ADVANCED CYBERSECURITY &amp; AI</a:t>
            </a:r>
          </a:p>
        </p:txBody>
      </p:sp>
      <p:sp>
        <p:nvSpPr>
          <p:cNvPr id="4" name="Rectangle 3"/>
          <p:cNvSpPr/>
          <p:nvPr/>
        </p:nvSpPr>
        <p:spPr>
          <a:xfrm>
            <a:off x="548640" y="73152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40080"/>
            <a:ext cx="10515600" cy="731520"/>
          </a:xfrm>
          <a:prstGeom prst="rect">
            <a:avLst/>
          </a:prstGeom>
          <a:noFill/>
        </p:spPr>
        <p:txBody>
          <a:bodyPr wrap="square">
            <a:spAutoFit/>
          </a:bodyPr>
          <a:lstStyle/>
          <a:p>
            <a:pPr>
              <a:defRPr sz="2800" b="1">
                <a:solidFill>
                  <a:srgbClr val="FFFFFF"/>
                </a:solidFill>
                <a:latin typeface="Arial"/>
              </a:defRPr>
            </a:pPr>
            <a:r>
              <a:t>The Evolution of Phishing Sophistication</a:t>
            </a:r>
          </a:p>
        </p:txBody>
      </p:sp>
      <p:sp>
        <p:nvSpPr>
          <p:cNvPr id="6" name="Rounded Rectangle 5"/>
          <p:cNvSpPr/>
          <p:nvPr/>
        </p:nvSpPr>
        <p:spPr>
          <a:xfrm>
            <a:off x="731520" y="2103120"/>
            <a:ext cx="3383280" cy="3840480"/>
          </a:xfrm>
          <a:prstGeom prst="roundRect">
            <a:avLst/>
          </a:prstGeom>
          <a:solidFill>
            <a:srgbClr val="1C2541"/>
          </a:solidFill>
          <a:ln>
            <a:solidFill>
              <a:srgbClr val="1C254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500" b="1">
                <a:solidFill>
                  <a:srgbClr val="00B4D8"/>
                </a:solidFill>
                <a:latin typeface="Arial"/>
              </a:defRPr>
            </a:pPr>
            <a:r>
              <a:t>Phase 1: Commodity Bulk Attacks</a:t>
            </a:r>
          </a:p>
          <a:p>
            <a:pPr>
              <a:spcBef>
                <a:spcPts val="1000"/>
              </a:spcBef>
              <a:defRPr sz="1200">
                <a:solidFill>
                  <a:srgbClr val="E0E1DD"/>
                </a:solidFill>
                <a:latin typeface="Arial"/>
              </a:defRPr>
            </a:pPr>
            <a:r>
              <a:t>Untargeted, massive-volume emails using rudimentary templates. Dominated by obvious grammatical errors, generic greetings ('Dear Customer'), and suspicious domains. Easily mitigated by traditional signature-based Secure Email Gateways (SEGs).</a:t>
            </a:r>
          </a:p>
        </p:txBody>
      </p:sp>
      <p:sp>
        <p:nvSpPr>
          <p:cNvPr id="7" name="Rounded Rectangle 6"/>
          <p:cNvSpPr/>
          <p:nvPr/>
        </p:nvSpPr>
        <p:spPr>
          <a:xfrm>
            <a:off x="4389120" y="2103120"/>
            <a:ext cx="3383280" cy="3840480"/>
          </a:xfrm>
          <a:prstGeom prst="roundRect">
            <a:avLst/>
          </a:prstGeom>
          <a:solidFill>
            <a:srgbClr val="1C2541"/>
          </a:solidFill>
          <a:ln>
            <a:solidFill>
              <a:srgbClr val="1C254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500" b="1">
                <a:solidFill>
                  <a:srgbClr val="00B4D8"/>
                </a:solidFill>
                <a:latin typeface="Arial"/>
              </a:defRPr>
            </a:pPr>
            <a:r>
              <a:t>Phase 2: AI-Driven Spear Phishing</a:t>
            </a:r>
          </a:p>
          <a:p>
            <a:pPr>
              <a:spcBef>
                <a:spcPts val="1000"/>
              </a:spcBef>
              <a:defRPr sz="1200">
                <a:solidFill>
                  <a:srgbClr val="E0E1DD"/>
                </a:solidFill>
                <a:latin typeface="Arial"/>
              </a:defRPr>
            </a:pPr>
            <a:r>
              <a:t>Hyper-personalized targeting orchestrated by Large Language Models (LLMs) and automated OSINT pipelines scraping LinkedIn, GitHub, and corporate reports. Zero grammatical cues, contextually flawless, and targeted accurately at specific functional roles.</a:t>
            </a:r>
          </a:p>
        </p:txBody>
      </p:sp>
      <p:sp>
        <p:nvSpPr>
          <p:cNvPr id="8" name="Rounded Rectangle 7"/>
          <p:cNvSpPr/>
          <p:nvPr/>
        </p:nvSpPr>
        <p:spPr>
          <a:xfrm>
            <a:off x="8046720" y="2103120"/>
            <a:ext cx="3383280" cy="3840480"/>
          </a:xfrm>
          <a:prstGeom prst="roundRect">
            <a:avLst/>
          </a:prstGeom>
          <a:solidFill>
            <a:srgbClr val="1C2541"/>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500" b="1">
                <a:solidFill>
                  <a:srgbClr val="00B4D8"/>
                </a:solidFill>
                <a:latin typeface="Arial"/>
              </a:defRPr>
            </a:pPr>
            <a:r>
              <a:t>Phase 3: Deep Contextual Hijacking</a:t>
            </a:r>
          </a:p>
          <a:p>
            <a:pPr>
              <a:spcBef>
                <a:spcPts val="1000"/>
              </a:spcBef>
              <a:defRPr sz="1200">
                <a:solidFill>
                  <a:srgbClr val="E0E1DD"/>
                </a:solidFill>
                <a:latin typeface="Arial"/>
              </a:defRPr>
            </a:pPr>
            <a:r>
              <a:t>Attackers exploit pre-compromised upstream vendor or supply chain email accounts. They insert malicious payloads directly into real, historical, ongoing corporate conversation threads, rendering legacy behavioral indicators useless.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274320"/>
          </a:xfrm>
          <a:prstGeom prst="rect">
            <a:avLst/>
          </a:prstGeom>
          <a:noFill/>
        </p:spPr>
        <p:txBody>
          <a:bodyPr wrap="square">
            <a:spAutoFit/>
          </a:bodyPr>
          <a:lstStyle/>
          <a:p>
            <a:pPr>
              <a:defRPr sz="1000" b="1">
                <a:solidFill>
                  <a:srgbClr val="00B4D8"/>
                </a:solidFill>
                <a:latin typeface="Arial"/>
              </a:defRPr>
            </a:pPr>
            <a:r>
              <a:t>ADVANCED CYBERSECURITY &amp; AI</a:t>
            </a:r>
          </a:p>
        </p:txBody>
      </p:sp>
      <p:sp>
        <p:nvSpPr>
          <p:cNvPr id="4" name="Rectangle 3"/>
          <p:cNvSpPr/>
          <p:nvPr/>
        </p:nvSpPr>
        <p:spPr>
          <a:xfrm>
            <a:off x="548640" y="73152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40080"/>
            <a:ext cx="10515600" cy="731520"/>
          </a:xfrm>
          <a:prstGeom prst="rect">
            <a:avLst/>
          </a:prstGeom>
          <a:noFill/>
        </p:spPr>
        <p:txBody>
          <a:bodyPr wrap="square">
            <a:spAutoFit/>
          </a:bodyPr>
          <a:lstStyle/>
          <a:p>
            <a:pPr>
              <a:defRPr sz="2800" b="1">
                <a:solidFill>
                  <a:srgbClr val="FFFFFF"/>
                </a:solidFill>
                <a:latin typeface="Arial"/>
              </a:defRPr>
            </a:pPr>
            <a:r>
              <a:t>Technical Deep Dive: Adversary-in-the-Middle (AiTM)</a:t>
            </a:r>
          </a:p>
        </p:txBody>
      </p:sp>
      <p:sp>
        <p:nvSpPr>
          <p:cNvPr id="6" name="TextBox 5"/>
          <p:cNvSpPr txBox="1"/>
          <p:nvPr/>
        </p:nvSpPr>
        <p:spPr>
          <a:xfrm>
            <a:off x="731520" y="1828800"/>
            <a:ext cx="5029200" cy="4114800"/>
          </a:xfrm>
          <a:prstGeom prst="rect">
            <a:avLst/>
          </a:prstGeom>
          <a:noFill/>
        </p:spPr>
        <p:txBody>
          <a:bodyPr wrap="square">
            <a:spAutoFit/>
          </a:bodyPr>
          <a:lstStyle/>
          <a:p>
            <a:pPr>
              <a:defRPr sz="1800" b="1">
                <a:solidFill>
                  <a:srgbClr val="00B4D8"/>
                </a:solidFill>
                <a:latin typeface="Arial"/>
              </a:defRPr>
            </a:pPr>
            <a:r>
              <a:t>The Modern Bypass of Traditional MFA</a:t>
            </a:r>
          </a:p>
          <a:p>
            <a:pPr>
              <a:spcBef>
                <a:spcPts val="1200"/>
              </a:spcBef>
              <a:defRPr sz="1300">
                <a:solidFill>
                  <a:srgbClr val="E0E1DD"/>
                </a:solidFill>
                <a:latin typeface="Arial"/>
              </a:defRPr>
            </a:pPr>
            <a:r>
              <a:t>• Architecture: Rather than creating a static fake website clone, tools like Evilginx deploy a live, reverse-proxy relay infrastructure between the target user and the legitimate Identity Provider (IdP).</a:t>
            </a:r>
            <a:br/>
            <a:br/>
            <a:r>
              <a:t>• Session Hijacking: The proxy relays HTTP requests and responses in real-time. When the user successfully solves their genuine MFA challenge (SMS, Authenticator App, or Push), the proxy captures the resulting session authentication token (cookie) sent back by the IdP.</a:t>
            </a:r>
            <a:br/>
            <a:br/>
            <a:r>
              <a:t>• Outcome: The attacker injects the hijacked cookie into their own browser session, achieving persistent access without ever knowing or needing the user's password or physical token.</a:t>
            </a:r>
          </a:p>
        </p:txBody>
      </p:sp>
      <p:sp>
        <p:nvSpPr>
          <p:cNvPr id="7" name="Rectangle 6"/>
          <p:cNvSpPr/>
          <p:nvPr/>
        </p:nvSpPr>
        <p:spPr>
          <a:xfrm>
            <a:off x="6217920" y="1828800"/>
            <a:ext cx="5212080" cy="4114800"/>
          </a:xfrm>
          <a:prstGeom prst="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defRPr sz="1400" b="1">
                <a:solidFill>
                  <a:srgbClr val="00B4D8"/>
                </a:solidFill>
              </a:defRPr>
            </a:pPr>
            <a:r>
              <a:t>EXPLOIT WORKFLOW ARCHITECTURE</a:t>
            </a:r>
          </a:p>
          <a:p>
            <a:pPr>
              <a:spcBef>
                <a:spcPts val="1200"/>
              </a:spcBef>
              <a:defRPr sz="1200">
                <a:solidFill>
                  <a:srgbClr val="FFFFFF"/>
                </a:solidFill>
                <a:latin typeface="Courier New"/>
              </a:defRPr>
            </a:pPr>
            <a:r>
              <a:t>[Target User Browser] --(Sends Credentials/MFA)--&gt;</a:t>
            </a:r>
          </a:p>
          <a:p>
            <a:pPr>
              <a:spcBef>
                <a:spcPts val="1200"/>
              </a:spcBef>
              <a:defRPr sz="1200">
                <a:solidFill>
                  <a:srgbClr val="FFFFFF"/>
                </a:solidFill>
                <a:latin typeface="Courier New"/>
              </a:defRPr>
            </a:pPr>
            <a:r>
              <a:t>   [Malicious AiTM Reverse Proxy Server] (Intercerts/Logs Cookie)</a:t>
            </a:r>
          </a:p>
          <a:p>
            <a:pPr>
              <a:spcBef>
                <a:spcPts val="1200"/>
              </a:spcBef>
              <a:defRPr sz="1200">
                <a:solidFill>
                  <a:srgbClr val="FFFFFF"/>
                </a:solidFill>
                <a:latin typeface="Courier New"/>
              </a:defRPr>
            </a:pPr>
            <a:r>
              <a:t>----&gt; [Legitimate Identity Provider (Microsoft 365 / Google)]</a:t>
            </a:r>
          </a:p>
          <a:p>
            <a:pPr>
              <a:spcBef>
                <a:spcPts val="1200"/>
              </a:spcBef>
              <a:defRPr sz="1200">
                <a:solidFill>
                  <a:srgbClr val="E0E1DD"/>
                </a:solidFill>
                <a:latin typeface="Arial"/>
              </a:defRPr>
            </a:pPr>
            <a:r>
              <a:t>Result: Attacker bypasses authentication completely by cloning the valid session token directly into their adversarial infrastructure.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274320"/>
          </a:xfrm>
          <a:prstGeom prst="rect">
            <a:avLst/>
          </a:prstGeom>
          <a:noFill/>
        </p:spPr>
        <p:txBody>
          <a:bodyPr wrap="square">
            <a:spAutoFit/>
          </a:bodyPr>
          <a:lstStyle/>
          <a:p>
            <a:pPr>
              <a:defRPr sz="1000" b="1">
                <a:solidFill>
                  <a:srgbClr val="00B4D8"/>
                </a:solidFill>
                <a:latin typeface="Arial"/>
              </a:defRPr>
            </a:pPr>
            <a:r>
              <a:t>ADVANCED CYBERSECURITY &amp; AI</a:t>
            </a:r>
          </a:p>
        </p:txBody>
      </p:sp>
      <p:sp>
        <p:nvSpPr>
          <p:cNvPr id="4" name="Rectangle 3"/>
          <p:cNvSpPr/>
          <p:nvPr/>
        </p:nvSpPr>
        <p:spPr>
          <a:xfrm>
            <a:off x="548640" y="73152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40080"/>
            <a:ext cx="10515600" cy="731520"/>
          </a:xfrm>
          <a:prstGeom prst="rect">
            <a:avLst/>
          </a:prstGeom>
          <a:noFill/>
        </p:spPr>
        <p:txBody>
          <a:bodyPr wrap="square">
            <a:spAutoFit/>
          </a:bodyPr>
          <a:lstStyle/>
          <a:p>
            <a:pPr>
              <a:defRPr sz="2800" b="1">
                <a:solidFill>
                  <a:srgbClr val="FFFFFF"/>
                </a:solidFill>
                <a:latin typeface="Arial"/>
              </a:defRPr>
            </a:pPr>
            <a:r>
              <a:t>Advanced Vector: OAuth Consent &amp; Illicit Consent Phishing</a:t>
            </a:r>
          </a:p>
        </p:txBody>
      </p:sp>
      <p:sp>
        <p:nvSpPr>
          <p:cNvPr id="6" name="TextBox 5"/>
          <p:cNvSpPr txBox="1"/>
          <p:nvPr/>
        </p:nvSpPr>
        <p:spPr>
          <a:xfrm>
            <a:off x="731520" y="1828800"/>
            <a:ext cx="10698480" cy="4389120"/>
          </a:xfrm>
          <a:prstGeom prst="rect">
            <a:avLst/>
          </a:prstGeom>
          <a:noFill/>
        </p:spPr>
        <p:txBody>
          <a:bodyPr wrap="square">
            <a:spAutoFit/>
          </a:bodyPr>
          <a:lstStyle/>
          <a:p>
            <a:pPr>
              <a:defRPr sz="1800" b="1">
                <a:solidFill>
                  <a:srgbClr val="00B4D8"/>
                </a:solidFill>
                <a:latin typeface="Arial"/>
              </a:defRPr>
            </a:pPr>
            <a:r>
              <a:t>Shifting from Password Theft to API Token Authorization</a:t>
            </a:r>
          </a:p>
          <a:p>
            <a:pPr>
              <a:spcBef>
                <a:spcPts val="1400"/>
              </a:spcBef>
              <a:defRPr sz="1400">
                <a:solidFill>
                  <a:srgbClr val="E0E1DD"/>
                </a:solidFill>
                <a:latin typeface="Arial"/>
              </a:defRPr>
            </a:pPr>
            <a:r>
              <a:t>• The Attack Vector: Attackers register a malicious application inside Azure AD or Google Workspace environments (e.g., masking it as 'Enterprise Security Scanner' or 'IT Migration Tool').</a:t>
            </a:r>
            <a:br/>
            <a:br/>
            <a:r>
              <a:t>• Delivery &amp; Consent: A phishing link directs targets to the official Microsoft/Google OAuth login infrastructure. Instead of an authentication prompt, they encounter a genuine account authorization modal requesting extensive API read/write scopes.</a:t>
            </a:r>
            <a:br/>
            <a:br/>
            <a:r>
              <a:t>• The Security Breach: The victim clicks 'Accept'. No credentials are leaked. Instead, an OAuth access/refresh token is issued directly to the attacker's application server via the Graph or Workspace API.</a:t>
            </a:r>
            <a:br/>
            <a:br/>
            <a:r>
              <a:t>• Persistent Compromise Lifecycle: Because the attack doesn't rely on account credentials, a full user password change or rotating MFA methods will completely fail to terminate the threat. The attacker's token remains valid until explicitly located and manually revoked within the cloud enterprise directory.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274320"/>
          </a:xfrm>
          <a:prstGeom prst="rect">
            <a:avLst/>
          </a:prstGeom>
          <a:noFill/>
        </p:spPr>
        <p:txBody>
          <a:bodyPr wrap="square">
            <a:spAutoFit/>
          </a:bodyPr>
          <a:lstStyle/>
          <a:p>
            <a:pPr>
              <a:defRPr sz="1000" b="1">
                <a:solidFill>
                  <a:srgbClr val="00B4D8"/>
                </a:solidFill>
                <a:latin typeface="Arial"/>
              </a:defRPr>
            </a:pPr>
            <a:r>
              <a:t>ADVANCED CYBERSECURITY &amp; AI</a:t>
            </a:r>
          </a:p>
        </p:txBody>
      </p:sp>
      <p:sp>
        <p:nvSpPr>
          <p:cNvPr id="4" name="Rectangle 3"/>
          <p:cNvSpPr/>
          <p:nvPr/>
        </p:nvSpPr>
        <p:spPr>
          <a:xfrm>
            <a:off x="548640" y="73152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40080"/>
            <a:ext cx="10515600" cy="731520"/>
          </a:xfrm>
          <a:prstGeom prst="rect">
            <a:avLst/>
          </a:prstGeom>
          <a:noFill/>
        </p:spPr>
        <p:txBody>
          <a:bodyPr wrap="square">
            <a:spAutoFit/>
          </a:bodyPr>
          <a:lstStyle/>
          <a:p>
            <a:pPr>
              <a:defRPr sz="2800" b="1">
                <a:solidFill>
                  <a:srgbClr val="FFFFFF"/>
                </a:solidFill>
                <a:latin typeface="Arial"/>
              </a:defRPr>
            </a:pPr>
            <a:r>
              <a:t>Emergent Cross-Device Vectors: Quishing &amp; MFA Fatigue</a:t>
            </a:r>
          </a:p>
        </p:txBody>
      </p:sp>
      <p:sp>
        <p:nvSpPr>
          <p:cNvPr id="6" name="Rounded Rectangle 5"/>
          <p:cNvSpPr/>
          <p:nvPr/>
        </p:nvSpPr>
        <p:spPr>
          <a:xfrm>
            <a:off x="731520" y="2011680"/>
            <a:ext cx="5120640" cy="3931920"/>
          </a:xfrm>
          <a:prstGeom prst="round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700" b="1">
                <a:solidFill>
                  <a:srgbClr val="00B4D8"/>
                </a:solidFill>
              </a:defRPr>
            </a:pPr>
            <a:r>
              <a:t>Quishing (QR Code Phishing)</a:t>
            </a:r>
          </a:p>
          <a:p>
            <a:pPr>
              <a:spcBef>
                <a:spcPts val="1200"/>
              </a:spcBef>
              <a:defRPr sz="1250">
                <a:solidFill>
                  <a:srgbClr val="E0E1DD"/>
                </a:solidFill>
              </a:defRPr>
            </a:pPr>
            <a:r>
              <a:t>• Mechanism: Malicious URLs are obfuscated inside dynamically compiled vector graphics (QR Codes) and embedded inside attached PDFs or inline email HTML.</a:t>
            </a:r>
            <a:br/>
            <a:br/>
            <a:r>
              <a:t>• Security Control Evasion: Most traditional Secure Email Gateways (SEGs) parse textual and hyperlink indicators. They often completely fail to execute real-time optical character recognition (OCR) or image matrix decomposition.</a:t>
            </a:r>
            <a:br/>
            <a:br/>
            <a:r>
              <a:t>• Perimeter Shift: Forces a critical cross-device transition. The user scans the screen code with a personal mobile device, bypassing enterprise endpoint logging, proxy decryption, and DNS filtering controls.</a:t>
            </a:r>
          </a:p>
        </p:txBody>
      </p:sp>
      <p:sp>
        <p:nvSpPr>
          <p:cNvPr id="7" name="Rounded Rectangle 6"/>
          <p:cNvSpPr/>
          <p:nvPr/>
        </p:nvSpPr>
        <p:spPr>
          <a:xfrm>
            <a:off x="6309360" y="2011680"/>
            <a:ext cx="5120640" cy="3931920"/>
          </a:xfrm>
          <a:prstGeom prst="round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defRPr sz="1700" b="1">
                <a:solidFill>
                  <a:srgbClr val="00B4D8"/>
                </a:solidFill>
              </a:defRPr>
            </a:pPr>
            <a:r>
              <a:t>MFA Fatigue &amp; Prompt Bombing</a:t>
            </a:r>
          </a:p>
          <a:p>
            <a:pPr>
              <a:spcBef>
                <a:spcPts val="1200"/>
              </a:spcBef>
              <a:defRPr sz="1250">
                <a:solidFill>
                  <a:srgbClr val="E0E1DD"/>
                </a:solidFill>
              </a:defRPr>
            </a:pPr>
            <a:r>
              <a:t>• Mechanism: Threat actors obtain valid user credentials and initiate continuous, high-frequency MFA push notifications to the user's authenticating device, often during late-night or early-morning windows.</a:t>
            </a:r>
            <a:br/>
            <a:br/>
            <a:r>
              <a:t>• Human Factors Vulnerability: Leverages systematic cognitive fatigue and behavioral habituation. The targeted individual eventually acknowledges a prompt out of pure disruption avoidance or simple error.</a:t>
            </a:r>
            <a:br/>
            <a:br/>
            <a:r>
              <a:t>• Enterprise Impact: Served as the foundational initial access vector in high-visibility corporate infrastructure breaches (e.g., the Uber enterprise compromise).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274320"/>
          </a:xfrm>
          <a:prstGeom prst="rect">
            <a:avLst/>
          </a:prstGeom>
          <a:noFill/>
        </p:spPr>
        <p:txBody>
          <a:bodyPr wrap="square">
            <a:spAutoFit/>
          </a:bodyPr>
          <a:lstStyle/>
          <a:p>
            <a:pPr>
              <a:defRPr sz="1000" b="1">
                <a:solidFill>
                  <a:srgbClr val="00B4D8"/>
                </a:solidFill>
                <a:latin typeface="Arial"/>
              </a:defRPr>
            </a:pPr>
            <a:r>
              <a:t>ADVANCED CYBERSECURITY &amp; AI</a:t>
            </a:r>
          </a:p>
        </p:txBody>
      </p:sp>
      <p:sp>
        <p:nvSpPr>
          <p:cNvPr id="4" name="Rectangle 3"/>
          <p:cNvSpPr/>
          <p:nvPr/>
        </p:nvSpPr>
        <p:spPr>
          <a:xfrm>
            <a:off x="548640" y="73152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40080"/>
            <a:ext cx="10515600" cy="731520"/>
          </a:xfrm>
          <a:prstGeom prst="rect">
            <a:avLst/>
          </a:prstGeom>
          <a:noFill/>
        </p:spPr>
        <p:txBody>
          <a:bodyPr wrap="square">
            <a:spAutoFit/>
          </a:bodyPr>
          <a:lstStyle/>
          <a:p>
            <a:pPr>
              <a:defRPr sz="2800" b="1">
                <a:solidFill>
                  <a:srgbClr val="FFFFFF"/>
                </a:solidFill>
                <a:latin typeface="Arial"/>
              </a:defRPr>
            </a:pPr>
            <a:r>
              <a:t>Engineering Case Study: The $25.6M Deepfake CFO Video Conference</a:t>
            </a:r>
          </a:p>
        </p:txBody>
      </p:sp>
      <p:sp>
        <p:nvSpPr>
          <p:cNvPr id="6" name="TextBox 5"/>
          <p:cNvSpPr txBox="1"/>
          <p:nvPr/>
        </p:nvSpPr>
        <p:spPr>
          <a:xfrm>
            <a:off x="731520" y="1828800"/>
            <a:ext cx="10698480" cy="4389120"/>
          </a:xfrm>
          <a:prstGeom prst="rect">
            <a:avLst/>
          </a:prstGeom>
          <a:noFill/>
        </p:spPr>
        <p:txBody>
          <a:bodyPr wrap="square">
            <a:spAutoFit/>
          </a:bodyPr>
          <a:lstStyle/>
          <a:p>
            <a:pPr>
              <a:defRPr sz="1800" b="1">
                <a:solidFill>
                  <a:srgbClr val="00B4D8"/>
                </a:solidFill>
                <a:latin typeface="Arial"/>
              </a:defRPr>
            </a:pPr>
            <a:r>
              <a:t>Deconstructing the Convergence of Generative AI and Social Engineering</a:t>
            </a:r>
          </a:p>
          <a:p>
            <a:pPr>
              <a:spcBef>
                <a:spcPts val="1200"/>
              </a:spcBef>
              <a:defRPr sz="1300">
                <a:solidFill>
                  <a:srgbClr val="E0E1DD"/>
                </a:solidFill>
                <a:latin typeface="Arial"/>
              </a:defRPr>
            </a:pPr>
            <a:r>
              <a:t>• Background: In 2024, a financial employee at the multinational engineering firm Arup in Hong Kong received a phishing lure masquerading as a confidential directive from the corporate Chief Financial Officer regarding an off-platform financial transaction.</a:t>
            </a:r>
            <a:br/>
            <a:br/>
            <a:r>
              <a:t>• The Multi-Layered Validation Trap: The employee originally exhibited healthy suspicion and requested formal verification. The threat actors responded by providing a link to a live corporate video conference.</a:t>
            </a:r>
            <a:br/>
            <a:br/>
            <a:r>
              <a:t>• Real-Time Synthesis: Upon connecting, the employee observed the CFO and several known corporate peers on screen. In reality, every single individual on that conference call—except the victim—was an AI-generated, real-time audiovisual deepfake asset driven by a sophisticated engineering pipeline.</a:t>
            </a:r>
            <a:br/>
            <a:br/>
            <a:r>
              <a:t>• Critical Threat Vector Assessment: Human-to-human sensory verification ('I spoke to them face-to-face over video') can no longer function as a reliable identity root of trust in security engineering. Cryptographic validation of communication channels is structurally mandatory.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274320"/>
          </a:xfrm>
          <a:prstGeom prst="rect">
            <a:avLst/>
          </a:prstGeom>
          <a:noFill/>
        </p:spPr>
        <p:txBody>
          <a:bodyPr wrap="square">
            <a:spAutoFit/>
          </a:bodyPr>
          <a:lstStyle/>
          <a:p>
            <a:pPr>
              <a:defRPr sz="1000" b="1">
                <a:solidFill>
                  <a:srgbClr val="00B4D8"/>
                </a:solidFill>
                <a:latin typeface="Arial"/>
              </a:defRPr>
            </a:pPr>
            <a:r>
              <a:t>ADVANCED CYBERSECURITY &amp; AI</a:t>
            </a:r>
          </a:p>
        </p:txBody>
      </p:sp>
      <p:sp>
        <p:nvSpPr>
          <p:cNvPr id="4" name="Rectangle 3"/>
          <p:cNvSpPr/>
          <p:nvPr/>
        </p:nvSpPr>
        <p:spPr>
          <a:xfrm>
            <a:off x="548640" y="73152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40080"/>
            <a:ext cx="10515600" cy="731520"/>
          </a:xfrm>
          <a:prstGeom prst="rect">
            <a:avLst/>
          </a:prstGeom>
          <a:noFill/>
        </p:spPr>
        <p:txBody>
          <a:bodyPr wrap="square">
            <a:spAutoFit/>
          </a:bodyPr>
          <a:lstStyle/>
          <a:p>
            <a:pPr>
              <a:defRPr sz="2800" b="1">
                <a:solidFill>
                  <a:srgbClr val="FFFFFF"/>
                </a:solidFill>
                <a:latin typeface="Arial"/>
              </a:defRPr>
            </a:pPr>
            <a:r>
              <a:t>Enterprise Defense: Transitioning to Cryptographic Assurance</a:t>
            </a:r>
          </a:p>
        </p:txBody>
      </p:sp>
      <p:sp>
        <p:nvSpPr>
          <p:cNvPr id="6" name="Rectangle 5"/>
          <p:cNvSpPr/>
          <p:nvPr/>
        </p:nvSpPr>
        <p:spPr>
          <a:xfrm>
            <a:off x="731520" y="1920240"/>
            <a:ext cx="10698480" cy="1188720"/>
          </a:xfrm>
          <a:prstGeom prst="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500" b="1">
                <a:solidFill>
                  <a:srgbClr val="00B4D8"/>
                </a:solidFill>
              </a:defRPr>
            </a:pPr>
            <a:r>
              <a:t>1. FIDO2 / WebAuthn Compliance</a:t>
            </a:r>
          </a:p>
          <a:p>
            <a:pPr>
              <a:spcBef>
                <a:spcPts val="400"/>
              </a:spcBef>
              <a:defRPr sz="1200">
                <a:solidFill>
                  <a:srgbClr val="E0E1DD"/>
                </a:solidFill>
              </a:defRPr>
            </a:pPr>
            <a:r>
              <a:t>Mandate hardware security keys or system-level biometric passkeys. Because FIDO2 binds public-key validation tokens to the cryptographic domain registry in the browser, it inherently invalidates and drops authentication requests routed via AiTM reverse proxies.</a:t>
            </a:r>
          </a:p>
        </p:txBody>
      </p:sp>
      <p:sp>
        <p:nvSpPr>
          <p:cNvPr id="7" name="Rectangle 6"/>
          <p:cNvSpPr/>
          <p:nvPr/>
        </p:nvSpPr>
        <p:spPr>
          <a:xfrm>
            <a:off x="731520" y="3383280"/>
            <a:ext cx="10698480" cy="1188720"/>
          </a:xfrm>
          <a:prstGeom prst="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500" b="1">
                <a:solidFill>
                  <a:srgbClr val="00B4D8"/>
                </a:solidFill>
              </a:defRPr>
            </a:pPr>
            <a:r>
              <a:t>2. OAuth Access Governance</a:t>
            </a:r>
          </a:p>
          <a:p>
            <a:pPr>
              <a:spcBef>
                <a:spcPts val="400"/>
              </a:spcBef>
              <a:defRPr sz="1200">
                <a:solidFill>
                  <a:srgbClr val="E0E1DD"/>
                </a:solidFill>
              </a:defRPr>
            </a:pPr>
            <a:r>
              <a:t>Enforce strict cloud directory restrictions preventing end-users from granting administrative consent to unverified third-party enterprise apps. Execute scheduled automated inventory scripts to hunt and invalidate unauthorized or stale client tokens.</a:t>
            </a:r>
          </a:p>
        </p:txBody>
      </p:sp>
      <p:sp>
        <p:nvSpPr>
          <p:cNvPr id="8" name="Rectangle 7"/>
          <p:cNvSpPr/>
          <p:nvPr/>
        </p:nvSpPr>
        <p:spPr>
          <a:xfrm>
            <a:off x="731520" y="4846320"/>
            <a:ext cx="10698480" cy="1188720"/>
          </a:xfrm>
          <a:prstGeom prst="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500" b="1">
                <a:solidFill>
                  <a:srgbClr val="00B4D8"/>
                </a:solidFill>
              </a:defRPr>
            </a:pPr>
            <a:r>
              <a:t>3. Out-of-Band Cryptographic Validation</a:t>
            </a:r>
          </a:p>
          <a:p>
            <a:pPr>
              <a:spcBef>
                <a:spcPts val="400"/>
              </a:spcBef>
              <a:defRPr sz="1200">
                <a:solidFill>
                  <a:srgbClr val="E0E1DD"/>
                </a:solidFill>
              </a:defRPr>
            </a:pPr>
            <a:r>
              <a:t>Rethink validation models entirely. Any abnormal financial movement or administrative shift must demand a pre-shared cryptographic verification step or multi-party distributed cryptographic signatures, decoupling security from voice/video authentication.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274320"/>
          </a:xfrm>
          <a:prstGeom prst="rect">
            <a:avLst/>
          </a:prstGeom>
          <a:noFill/>
        </p:spPr>
        <p:txBody>
          <a:bodyPr wrap="square">
            <a:spAutoFit/>
          </a:bodyPr>
          <a:lstStyle/>
          <a:p>
            <a:pPr>
              <a:defRPr sz="1000" b="1">
                <a:solidFill>
                  <a:srgbClr val="00B4D8"/>
                </a:solidFill>
                <a:latin typeface="Arial"/>
              </a:defRPr>
            </a:pPr>
            <a:r>
              <a:t>ADVANCED CYBERSECURITY &amp; AI</a:t>
            </a:r>
          </a:p>
        </p:txBody>
      </p:sp>
      <p:sp>
        <p:nvSpPr>
          <p:cNvPr id="4" name="Rectangle 3"/>
          <p:cNvSpPr/>
          <p:nvPr/>
        </p:nvSpPr>
        <p:spPr>
          <a:xfrm>
            <a:off x="548640" y="73152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40080"/>
            <a:ext cx="10515600" cy="731520"/>
          </a:xfrm>
          <a:prstGeom prst="rect">
            <a:avLst/>
          </a:prstGeom>
          <a:noFill/>
        </p:spPr>
        <p:txBody>
          <a:bodyPr wrap="square">
            <a:spAutoFit/>
          </a:bodyPr>
          <a:lstStyle/>
          <a:p>
            <a:pPr>
              <a:defRPr sz="2800" b="1">
                <a:solidFill>
                  <a:srgbClr val="FFFFFF"/>
                </a:solidFill>
                <a:latin typeface="Arial"/>
              </a:defRPr>
            </a:pPr>
            <a:r>
              <a:t>Interactive Seminar: Incident Modeling &amp; Discussion Cases</a:t>
            </a:r>
          </a:p>
        </p:txBody>
      </p:sp>
      <p:sp>
        <p:nvSpPr>
          <p:cNvPr id="6" name="Rounded Rectangle 5"/>
          <p:cNvSpPr/>
          <p:nvPr/>
        </p:nvSpPr>
        <p:spPr>
          <a:xfrm>
            <a:off x="731520" y="2011680"/>
            <a:ext cx="5120640" cy="3931920"/>
          </a:xfrm>
          <a:prstGeom prst="round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00B4D8"/>
                </a:solidFill>
              </a:defRPr>
            </a:pPr>
            <a:r>
              <a:t>Threat Modeling Case A</a:t>
            </a:r>
          </a:p>
          <a:p>
            <a:pPr>
              <a:spcBef>
                <a:spcPts val="1000"/>
              </a:spcBef>
              <a:defRPr sz="1200">
                <a:solidFill>
                  <a:srgbClr val="E0E1DD"/>
                </a:solidFill>
              </a:defRPr>
            </a:pPr>
            <a:r>
              <a:t>• Scenario: A corporate project manager receives an urgent, unscheduled calendar invite containing an embedded image graphic with a QR code asking them to re-verify identity for the 'Enterprise AI Rollout.' The SEG marks the email completely clean.</a:t>
            </a:r>
            <a:br/>
            <a:br/>
            <a:r>
              <a:t>• Interactive Prompts for the Class:</a:t>
            </a:r>
            <a:br/>
            <a:r>
              <a:t>  1. Why did the perimeter Gateway fail to flag the link?</a:t>
            </a:r>
            <a:br/>
            <a:r>
              <a:t>  2. What happens to tracking metrics if the target scans this using an unmonitored personal mobile device?</a:t>
            </a:r>
            <a:br/>
            <a:r>
              <a:t>  3. What network telemetry can the SOC monitor to catch this?</a:t>
            </a:r>
          </a:p>
        </p:txBody>
      </p:sp>
      <p:sp>
        <p:nvSpPr>
          <p:cNvPr id="7" name="Rounded Rectangle 6"/>
          <p:cNvSpPr/>
          <p:nvPr/>
        </p:nvSpPr>
        <p:spPr>
          <a:xfrm>
            <a:off x="6309360" y="2011680"/>
            <a:ext cx="5120640" cy="3931920"/>
          </a:xfrm>
          <a:prstGeom prst="roundRect">
            <a:avLst/>
          </a:prstGeom>
          <a:solidFill>
            <a:srgbClr val="1C2541"/>
          </a:solidFill>
          <a:ln>
            <a:no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600" b="1">
                <a:solidFill>
                  <a:srgbClr val="00B4D8"/>
                </a:solidFill>
              </a:defRPr>
            </a:pPr>
            <a:r>
              <a:t>Threat Modeling Case B</a:t>
            </a:r>
          </a:p>
          <a:p>
            <a:pPr>
              <a:spcBef>
                <a:spcPts val="1000"/>
              </a:spcBef>
              <a:defRPr sz="1200">
                <a:solidFill>
                  <a:srgbClr val="E0E1DD"/>
                </a:solidFill>
              </a:defRPr>
            </a:pPr>
            <a:r>
              <a:t>• Scenario: An enterprise security analyst notes a critical impossible travel alert: a single corporate identity successfully authenticated from London and Frankfurt within a 4-minute delta. The user insists they only logged in once via their regular MFA push app.</a:t>
            </a:r>
            <a:br/>
            <a:br/>
            <a:r>
              <a:t>• Interactive Prompts for the Class:</a:t>
            </a:r>
            <a:br/>
            <a:r>
              <a:t>  1. Reconstruct the attack mechanism step-by-step. Is this a case of password cracking?</a:t>
            </a:r>
            <a:br/>
            <a:r>
              <a:t>  2. How must the SOC act to terminate the compromise? (Hint: Does a simple password reset solve it?)</a:t>
            </a:r>
            <a:br/>
            <a:r>
              <a:t>  3. How does FIDO2 completely eradicate this scenario?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9144000" cy="274320"/>
          </a:xfrm>
          <a:prstGeom prst="rect">
            <a:avLst/>
          </a:prstGeom>
          <a:noFill/>
        </p:spPr>
        <p:txBody>
          <a:bodyPr wrap="square">
            <a:spAutoFit/>
          </a:bodyPr>
          <a:lstStyle/>
          <a:p>
            <a:pPr>
              <a:defRPr sz="1000" b="1">
                <a:solidFill>
                  <a:srgbClr val="00B4D8"/>
                </a:solidFill>
                <a:latin typeface="Arial"/>
              </a:defRPr>
            </a:pPr>
            <a:r>
              <a:t>ADVANCED CYBERSECURITY &amp; AI</a:t>
            </a:r>
          </a:p>
        </p:txBody>
      </p:sp>
      <p:sp>
        <p:nvSpPr>
          <p:cNvPr id="4" name="Rectangle 3"/>
          <p:cNvSpPr/>
          <p:nvPr/>
        </p:nvSpPr>
        <p:spPr>
          <a:xfrm>
            <a:off x="548640" y="731520"/>
            <a:ext cx="73152" cy="5486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640080"/>
            <a:ext cx="10515600" cy="731520"/>
          </a:xfrm>
          <a:prstGeom prst="rect">
            <a:avLst/>
          </a:prstGeom>
          <a:noFill/>
        </p:spPr>
        <p:txBody>
          <a:bodyPr wrap="square">
            <a:spAutoFit/>
          </a:bodyPr>
          <a:lstStyle/>
          <a:p>
            <a:pPr>
              <a:defRPr sz="2800" b="1">
                <a:solidFill>
                  <a:srgbClr val="FFFFFF"/>
                </a:solidFill>
                <a:latin typeface="Arial"/>
              </a:defRPr>
            </a:pPr>
            <a:r>
              <a:t>Academic Foundations &amp; Reference Literature</a:t>
            </a:r>
          </a:p>
        </p:txBody>
      </p:sp>
      <p:sp>
        <p:nvSpPr>
          <p:cNvPr id="6" name="TextBox 5"/>
          <p:cNvSpPr txBox="1"/>
          <p:nvPr/>
        </p:nvSpPr>
        <p:spPr>
          <a:xfrm>
            <a:off x="731520" y="1828800"/>
            <a:ext cx="10698480" cy="4114800"/>
          </a:xfrm>
          <a:prstGeom prst="rect">
            <a:avLst/>
          </a:prstGeom>
          <a:noFill/>
        </p:spPr>
        <p:txBody>
          <a:bodyPr wrap="square">
            <a:spAutoFit/>
          </a:bodyPr>
          <a:lstStyle/>
          <a:p>
            <a:pPr>
              <a:defRPr sz="1600" b="1">
                <a:solidFill>
                  <a:srgbClr val="00B4D8"/>
                </a:solidFill>
                <a:latin typeface="Arial"/>
              </a:defRPr>
            </a:pPr>
            <a:r>
              <a:t>Core Literature &amp; Research Frameworks for Further Student Review</a:t>
            </a:r>
          </a:p>
          <a:p>
            <a:pPr>
              <a:spcBef>
                <a:spcPts val="1400"/>
              </a:spcBef>
              <a:defRPr sz="1250">
                <a:solidFill>
                  <a:srgbClr val="E0E1DD"/>
                </a:solidFill>
                <a:latin typeface="Arial"/>
              </a:defRPr>
            </a:pPr>
            <a:r>
              <a:t>• Kahneman, D. (2011). Thinking, Fast and Slow. New York: Farrar, Straus and Giroux. (Foundational behavioral science modeling behind System 1 and System 2 cognitive processing architecture).</a:t>
            </a:r>
            <a:br/>
            <a:br/>
            <a:r>
              <a:t>• Chaiken, S. (1980). Heuristic versus systematic information processing and the use of source versus message cues in persuasion. Journal of Personality and Social Psychology, 39(5), 752–766. (Explaining systemic heuristics utilized by adversarial threat actors during social manipulation).</a:t>
            </a:r>
            <a:br/>
            <a:br/>
            <a:r>
              <a:t>• Heartfield, R., &amp; Loukas, G. (2015). A Taxonomy of Cyber-Physical Social Engineering Attacks. IEEE Communications Surveys &amp; Tutorials, 17(4), 2266-2289. (Advanced academic frameworks classifying layered vectors across psychological and technological dimensions).</a:t>
            </a:r>
            <a:br/>
            <a:br/>
            <a:r>
              <a:t>• Cybersecurity and Infrastructure Security Agency (CISA). (2023-2025). Mitigating Advanced Phishing and Session Hijacking Vectors via Phishing-Resistant MFA Architectures. Joint NSA/CISA Technical Advisory Frameworks.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1660</Words>
  <Application>Microsoft Office PowerPoint</Application>
  <PresentationFormat>Widescreen</PresentationFormat>
  <Paragraphs>59</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Hamaad</cp:lastModifiedBy>
  <cp:revision>2</cp:revision>
  <dcterms:created xsi:type="dcterms:W3CDTF">2013-01-27T09:14:16Z</dcterms:created>
  <dcterms:modified xsi:type="dcterms:W3CDTF">2026-05-28T17:35:07Z</dcterms:modified>
  <cp:category/>
</cp:coreProperties>
</file>